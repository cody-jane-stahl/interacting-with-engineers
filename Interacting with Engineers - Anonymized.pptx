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Economica"/>
      <p:regular r:id="rId23"/>
      <p:bold r:id="rId24"/>
      <p:italic r:id="rId25"/>
      <p:bold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Economica-bold.fntdata"/><Relationship Id="rId23" Type="http://schemas.openxmlformats.org/officeDocument/2006/relationships/font" Target="fonts/Economic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conomica-boldItalic.fntdata"/><Relationship Id="rId25" Type="http://schemas.openxmlformats.org/officeDocument/2006/relationships/font" Target="fonts/Economica-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pen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1b9bfa5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1b9bfa5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1b9bfa5f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1b9bfa5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1b9bfa5f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1b9bfa5f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1b9bfa5f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1b9bfa5f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1b9bfa5f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1b9bfa5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1b9bfa5f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1b9bfa5f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1b9bfa5f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1b9bfa5f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1b9bfa5f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1b9bfa5f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1b9bfa5f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1b9bfa5f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1b9bfa5f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1b9bfa5f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1b9bfa5f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1b9bfa5f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1b9bfa5f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1b9bfa5f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1b9bfa5f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1b9bfa5f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1b9bfa5f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1b9bfa5f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1b9bfa5f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1b9bfa5f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1b9bfa5f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61b9bfa5f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1b9bfa5f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1b9bfa5f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Interacting with Engineers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Everything You Always Wanted to Know About Devs* (*But Were Afraid to Ask)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Anatomy of a Developer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Structuring Specifications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User Stories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Exercises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Anatomy of a Developer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Anatomy of a Developer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developer is a machine that turns specification into code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Code is only as useful as its specification.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developer is a wizard who understands the underlying nature of the universe (read: </a:t>
            </a:r>
            <a:r>
              <a:rPr lang="en"/>
              <a:t>the codebase</a:t>
            </a:r>
            <a:r>
              <a:rPr lang="en" sz="1800"/>
              <a:t>) better than any mortal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Wizards can become detached from the mortal plane. Context that seems obvious to a user might not be to a developer.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Developers are people too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800"/>
              <a:buChar char="○"/>
            </a:pPr>
            <a:r>
              <a:rPr lang="en" sz="1800"/>
              <a:t>A dev in person-mode can help refine your specification, thus improving their machine-mode results.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Structuring Specifications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Specifications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Two Aspects of Specification: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Business Logic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Implementation Details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Keep business logic and implementation details as separate as possible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Devs are wizards. If they understand clearly WHAT you’re trying to do, they might have a better idea of HOW to do it.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800"/>
              <a:buChar char="●"/>
            </a:pPr>
            <a:r>
              <a:rPr lang="en" sz="1800"/>
              <a:t>Define complex concepts ONCE, reuse them later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Logic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functionality is needed?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WHY is it needed?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WHO needs this solution?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</a:pPr>
            <a:r>
              <a:rPr lang="en" sz="1800"/>
              <a:t>As much as possible, understandable by non-technical person familiar with the workflow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Provide CONTEXT for the developer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Focus on the conceptual workflow, not specific implementation</a:t>
            </a:r>
            <a:endParaRPr sz="1800"/>
          </a:p>
          <a:p>
            <a:pPr indent="-3429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800"/>
              <a:buChar char="○"/>
            </a:pPr>
            <a:r>
              <a:rPr lang="en" sz="1800"/>
              <a:t>Example: Instead of “for patient cases whose associated incident case has an incident_date &lt;= today()-30, set risk_status = ‘low’” say “Flag patients who haven’t had an incident in at least 30 days as low risk”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Details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should this functionality be implemented?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</a:pPr>
            <a:r>
              <a:rPr lang="en" sz="1800"/>
              <a:t>Business logic translated to a technical context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is the expected output in CommCare language?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systems can be leveraged?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What might the interface look like?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developer can help make sure the implementation details are sound</a:t>
            </a:r>
            <a:endParaRPr sz="1800"/>
          </a:p>
          <a:p>
            <a:pPr indent="-3429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800"/>
              <a:buChar char="○"/>
            </a:pPr>
            <a:r>
              <a:rPr lang="en" sz="1800"/>
              <a:t>But ONLY if they understand the business logic!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Reusable Concepts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If a certain concept appears over and over again in your specification, define this concept ONCE at the beginning, and refer to it by name later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</a:pPr>
            <a:r>
              <a:rPr lang="en" sz="1800"/>
              <a:t>Business Logic/Implementation Detail split applies here too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800"/>
              <a:buChar char="●"/>
            </a:pPr>
            <a:r>
              <a:rPr lang="en" sz="1800"/>
              <a:t>Rule of Thumb: if you’re copying and pasting chunks of text across your spec, this can probably be split out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Reusable Concepts - Example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new feature performs a sequence of tasks on cases under a complicated condition.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Rather than write out the condition under the description of every task, we define an </a:t>
            </a:r>
            <a:r>
              <a:rPr b="1" lang="en" sz="1800"/>
              <a:t>Unserviced Household </a:t>
            </a:r>
            <a:r>
              <a:rPr lang="en" sz="1800"/>
              <a:t>as: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Business Logic: A household that has not been visited by a field worker in 30 days, and that has not been flagged by a supervisor as inactive.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800"/>
              <a:buChar char="○"/>
            </a:pPr>
            <a:r>
              <a:rPr lang="en" sz="1800"/>
              <a:t>Implementation Details: A household case where last_visit_date &lt;= today() - 30, and that hasn’t had the form “Supervisor - Flag Inactive Household” submitted against it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Stories: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Helpful Agile Concept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Stories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</a:t>
            </a:r>
            <a:r>
              <a:rPr b="1" lang="en" sz="1800"/>
              <a:t>User Story</a:t>
            </a:r>
            <a:r>
              <a:rPr lang="en" sz="1800"/>
              <a:t> is a one sentence description of a feature from the perspective of the end user.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As a </a:t>
            </a:r>
            <a:r>
              <a:rPr lang="en" sz="1800" u="sng"/>
              <a:t>___&lt;role&gt;___</a:t>
            </a:r>
            <a:r>
              <a:rPr lang="en" sz="1800"/>
              <a:t>, I want </a:t>
            </a:r>
            <a:r>
              <a:rPr lang="en" sz="1800" u="sng"/>
              <a:t>___&lt;feature&gt;___</a:t>
            </a:r>
            <a:r>
              <a:rPr lang="en" sz="1800"/>
              <a:t>, so that </a:t>
            </a:r>
            <a:r>
              <a:rPr lang="en" sz="1800" u="sng"/>
              <a:t>___&lt;reason&gt;___</a:t>
            </a:r>
            <a:r>
              <a:rPr lang="en" sz="1800"/>
              <a:t>.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WHO/WHAT/</a:t>
            </a:r>
            <a:r>
              <a:rPr b="1" lang="en" sz="1800"/>
              <a:t>WHY</a:t>
            </a:r>
            <a:endParaRPr b="1" sz="1800"/>
          </a:p>
          <a:p>
            <a:pPr indent="-3429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ZERO implementation details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Clarifies the most important aspect of the feature when writing business logic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800"/>
              <a:buChar char="●"/>
            </a:pPr>
            <a:r>
              <a:rPr lang="en" sz="1800"/>
              <a:t>Helps orient the spec reader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Story - Examples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As an </a:t>
            </a:r>
            <a:r>
              <a:rPr b="1" lang="en" sz="1800"/>
              <a:t>app builder</a:t>
            </a:r>
            <a:r>
              <a:rPr lang="en" sz="1800"/>
              <a:t>, I want </a:t>
            </a:r>
            <a:r>
              <a:rPr b="1" lang="en" sz="1800"/>
              <a:t>to run the current version of an app from within my browser</a:t>
            </a:r>
            <a:r>
              <a:rPr lang="en" sz="1800"/>
              <a:t>, so that </a:t>
            </a:r>
            <a:r>
              <a:rPr b="1" lang="en" sz="1800"/>
              <a:t>I can test my app as I build it</a:t>
            </a:r>
            <a:r>
              <a:rPr lang="en" sz="1800"/>
              <a:t>.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As a </a:t>
            </a:r>
            <a:r>
              <a:rPr b="1" lang="en" sz="1800"/>
              <a:t>field worker</a:t>
            </a:r>
            <a:r>
              <a:rPr lang="en" sz="1800"/>
              <a:t>, I want </a:t>
            </a:r>
            <a:r>
              <a:rPr b="1" lang="en" sz="1800"/>
              <a:t>to register a new case without leaving a case list</a:t>
            </a:r>
            <a:r>
              <a:rPr lang="en" sz="1800"/>
              <a:t>, so that </a:t>
            </a:r>
            <a:r>
              <a:rPr b="1" lang="en" sz="1800"/>
              <a:t>I don’t interrupt my workflow</a:t>
            </a:r>
            <a:r>
              <a:rPr lang="en" sz="1800"/>
              <a:t>.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800"/>
              <a:buChar char="●"/>
            </a:pPr>
            <a:r>
              <a:rPr lang="en" sz="1800"/>
              <a:t>As a </a:t>
            </a:r>
            <a:r>
              <a:rPr b="1" lang="en"/>
              <a:t>report </a:t>
            </a:r>
            <a:r>
              <a:rPr b="1" lang="en" sz="1800"/>
              <a:t>builder</a:t>
            </a:r>
            <a:r>
              <a:rPr lang="en" sz="1800"/>
              <a:t>, I want </a:t>
            </a:r>
            <a:r>
              <a:rPr b="1" lang="en" sz="1800"/>
              <a:t>to </a:t>
            </a:r>
            <a:r>
              <a:rPr b="1" lang="en" sz="1800"/>
              <a:t>count all active cases aggregated by month</a:t>
            </a:r>
            <a:r>
              <a:rPr lang="en" sz="1800"/>
              <a:t>, so that </a:t>
            </a:r>
            <a:r>
              <a:rPr b="1" lang="en" sz="1800"/>
              <a:t>I can calculate percentages over all active cases</a:t>
            </a:r>
            <a:r>
              <a:rPr lang="en" sz="1800"/>
              <a:t>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/>
          <p:nvPr/>
        </p:nvSpPr>
        <p:spPr>
          <a:xfrm>
            <a:off x="1788150" y="244350"/>
            <a:ext cx="5567700" cy="46548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6"/>
          <p:cNvSpPr/>
          <p:nvPr/>
        </p:nvSpPr>
        <p:spPr>
          <a:xfrm>
            <a:off x="2552770" y="244350"/>
            <a:ext cx="4030800" cy="3372900"/>
          </a:xfrm>
          <a:prstGeom prst="triangle">
            <a:avLst>
              <a:gd fmla="val 50000" name="adj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6"/>
          <p:cNvSpPr/>
          <p:nvPr/>
        </p:nvSpPr>
        <p:spPr>
          <a:xfrm>
            <a:off x="3590847" y="244350"/>
            <a:ext cx="1941000" cy="1628400"/>
          </a:xfrm>
          <a:prstGeom prst="triangle">
            <a:avLst>
              <a:gd fmla="val 50000" name="adj"/>
            </a:avLst>
          </a:prstGeom>
          <a:solidFill>
            <a:srgbClr val="C27BA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6"/>
          <p:cNvSpPr txBox="1"/>
          <p:nvPr/>
        </p:nvSpPr>
        <p:spPr>
          <a:xfrm>
            <a:off x="3945125" y="899252"/>
            <a:ext cx="12534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User Story</a:t>
            </a:r>
            <a:endParaRPr b="1" sz="1800"/>
          </a:p>
        </p:txBody>
      </p:sp>
      <p:sp>
        <p:nvSpPr>
          <p:cNvPr id="141" name="Google Shape;141;p26"/>
          <p:cNvSpPr txBox="1"/>
          <p:nvPr/>
        </p:nvSpPr>
        <p:spPr>
          <a:xfrm>
            <a:off x="3762601" y="2292139"/>
            <a:ext cx="15975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Business Logic</a:t>
            </a:r>
            <a:endParaRPr b="1" sz="1800"/>
          </a:p>
        </p:txBody>
      </p:sp>
      <p:sp>
        <p:nvSpPr>
          <p:cNvPr id="142" name="Google Shape;142;p26"/>
          <p:cNvSpPr txBox="1"/>
          <p:nvPr/>
        </p:nvSpPr>
        <p:spPr>
          <a:xfrm>
            <a:off x="3491813" y="3938471"/>
            <a:ext cx="21603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Implementation Details</a:t>
            </a:r>
            <a:endParaRPr b="1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These Specs be Improved?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1297500" y="536075"/>
            <a:ext cx="7038900" cy="3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function called “select_random” needs to be added to </a:t>
            </a:r>
            <a:r>
              <a:rPr lang="en"/>
              <a:t>the platform </a:t>
            </a:r>
            <a:r>
              <a:rPr lang="en" sz="1800"/>
              <a:t>that takes the following parameters:</a:t>
            </a:r>
            <a:endParaRPr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Space-separated list: x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Integer: n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/>
              <a:t>The function returns a space-separated list consisting of n randomly-selected elements from x.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1297500" y="536075"/>
            <a:ext cx="7038900" cy="3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Business Logic:</a:t>
            </a:r>
            <a:r>
              <a:rPr lang="en" sz="1800"/>
              <a:t> On the first of every month, every case with risk_level = “high” that has not been to a clinic in the previous month should have its needs_attention property set to “yes”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1800"/>
              <a:t>Implementation Details:</a:t>
            </a:r>
            <a:r>
              <a:rPr lang="en" sz="1800"/>
              <a:t> A celery task will be set to query the case list on the first of every month. For every case it finds where risk_level = “high” and last_clinic_visit_date is not in the previous month, submit a form against the case setting needs_attention to “yes”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1297500" y="536075"/>
            <a:ext cx="7038900" cy="3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User Story 1: </a:t>
            </a:r>
            <a:r>
              <a:rPr lang="en" sz="1800"/>
              <a:t>As a </a:t>
            </a:r>
            <a:r>
              <a:rPr b="1" lang="en" sz="1800"/>
              <a:t>UCR Builder</a:t>
            </a:r>
            <a:r>
              <a:rPr lang="en" sz="1800"/>
              <a:t>, I want </a:t>
            </a:r>
            <a:r>
              <a:rPr b="1" lang="en" sz="1800"/>
              <a:t>to submit a form against every case every month</a:t>
            </a:r>
            <a:r>
              <a:rPr lang="en" sz="1800"/>
              <a:t>, so that </a:t>
            </a:r>
            <a:r>
              <a:rPr b="1" lang="en" sz="1800"/>
              <a:t>I can count all active cases aggregated by month in a form-based UCR</a:t>
            </a:r>
            <a:r>
              <a:rPr lang="en" sz="1800"/>
              <a:t>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800"/>
              <a:t>User Story 2: </a:t>
            </a:r>
            <a:r>
              <a:rPr lang="en" sz="1800"/>
              <a:t>As a </a:t>
            </a:r>
            <a:r>
              <a:rPr b="1" lang="en" sz="1800"/>
              <a:t>Data Manager</a:t>
            </a:r>
            <a:r>
              <a:rPr lang="en" sz="1800"/>
              <a:t>, I want </a:t>
            </a:r>
            <a:r>
              <a:rPr b="1" lang="en" sz="1800"/>
              <a:t>a daily feed of case data into a SQL database</a:t>
            </a:r>
            <a:r>
              <a:rPr lang="en" sz="1800"/>
              <a:t>, so that </a:t>
            </a:r>
            <a:r>
              <a:rPr b="1" lang="en" sz="1800"/>
              <a:t>I can visualize it in Power BI</a:t>
            </a:r>
            <a:r>
              <a:rPr lang="en" sz="1800"/>
              <a:t>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1800"/>
              <a:t>User Story 3:</a:t>
            </a:r>
            <a:r>
              <a:rPr lang="en" sz="1800"/>
              <a:t> As an </a:t>
            </a:r>
            <a:r>
              <a:rPr b="1" lang="en" sz="1800"/>
              <a:t>App Engineer</a:t>
            </a:r>
            <a:r>
              <a:rPr lang="en" sz="1800"/>
              <a:t>, I want </a:t>
            </a:r>
            <a:r>
              <a:rPr b="1" lang="en" sz="1800"/>
              <a:t>a more intuitive Advanced Modules interface</a:t>
            </a:r>
            <a:r>
              <a:rPr lang="en" sz="1800"/>
              <a:t>, so that </a:t>
            </a:r>
            <a:r>
              <a:rPr b="1" lang="en" sz="1800"/>
              <a:t>I can reduce time spent and errors introduced in Advanced Modules.</a:t>
            </a:r>
            <a:endParaRPr b="1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